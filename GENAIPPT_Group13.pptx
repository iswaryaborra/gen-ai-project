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Fredoka" charset="1" panose="02000000000000000000"/>
      <p:regular r:id="rId20"/>
    </p:embeddedFont>
    <p:embeddedFont>
      <p:font typeface="DM Sans Bold" charset="1" panose="00000000000000000000"/>
      <p:regular r:id="rId21"/>
    </p:embeddedFont>
    <p:embeddedFont>
      <p:font typeface="DM Sans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863" y="382964"/>
            <a:ext cx="17466274" cy="9521072"/>
            <a:chOff x="0" y="0"/>
            <a:chExt cx="110471726" cy="6021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10326949" cy="60074661"/>
            </a:xfrm>
            <a:custGeom>
              <a:avLst/>
              <a:gdLst/>
              <a:ahLst/>
              <a:cxnLst/>
              <a:rect r="r" b="b" t="t" l="l"/>
              <a:pathLst>
                <a:path h="60074661" w="110326949">
                  <a:moveTo>
                    <a:pt x="0" y="0"/>
                  </a:moveTo>
                  <a:lnTo>
                    <a:pt x="110326949" y="0"/>
                  </a:lnTo>
                  <a:lnTo>
                    <a:pt x="110326949" y="60074661"/>
                  </a:lnTo>
                  <a:lnTo>
                    <a:pt x="0" y="60074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95C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71731" cy="60219437"/>
            </a:xfrm>
            <a:custGeom>
              <a:avLst/>
              <a:gdLst/>
              <a:ahLst/>
              <a:cxnLst/>
              <a:rect r="r" b="b" t="t" l="l"/>
              <a:pathLst>
                <a:path h="60219437" w="110471731">
                  <a:moveTo>
                    <a:pt x="110326946" y="60074659"/>
                  </a:moveTo>
                  <a:lnTo>
                    <a:pt x="110471731" y="60074659"/>
                  </a:lnTo>
                  <a:lnTo>
                    <a:pt x="110471731" y="60219437"/>
                  </a:lnTo>
                  <a:lnTo>
                    <a:pt x="110326946" y="60219437"/>
                  </a:lnTo>
                  <a:lnTo>
                    <a:pt x="110326946" y="6007465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0074659"/>
                  </a:lnTo>
                  <a:lnTo>
                    <a:pt x="0" y="60074659"/>
                  </a:lnTo>
                  <a:lnTo>
                    <a:pt x="0" y="144780"/>
                  </a:lnTo>
                  <a:close/>
                  <a:moveTo>
                    <a:pt x="0" y="60074659"/>
                  </a:moveTo>
                  <a:lnTo>
                    <a:pt x="144780" y="60074659"/>
                  </a:lnTo>
                  <a:lnTo>
                    <a:pt x="144780" y="60219437"/>
                  </a:lnTo>
                  <a:lnTo>
                    <a:pt x="0" y="60219437"/>
                  </a:lnTo>
                  <a:lnTo>
                    <a:pt x="0" y="60074659"/>
                  </a:lnTo>
                  <a:close/>
                  <a:moveTo>
                    <a:pt x="110326946" y="144780"/>
                  </a:moveTo>
                  <a:lnTo>
                    <a:pt x="110471731" y="144780"/>
                  </a:lnTo>
                  <a:lnTo>
                    <a:pt x="110471731" y="60074659"/>
                  </a:lnTo>
                  <a:lnTo>
                    <a:pt x="110326946" y="60074659"/>
                  </a:lnTo>
                  <a:lnTo>
                    <a:pt x="110326946" y="144780"/>
                  </a:lnTo>
                  <a:close/>
                  <a:moveTo>
                    <a:pt x="144780" y="60074659"/>
                  </a:moveTo>
                  <a:lnTo>
                    <a:pt x="110326946" y="60074659"/>
                  </a:lnTo>
                  <a:lnTo>
                    <a:pt x="110326946" y="60219437"/>
                  </a:lnTo>
                  <a:lnTo>
                    <a:pt x="144780" y="60219437"/>
                  </a:lnTo>
                  <a:lnTo>
                    <a:pt x="144780" y="60074659"/>
                  </a:lnTo>
                  <a:close/>
                  <a:moveTo>
                    <a:pt x="110326946" y="0"/>
                  </a:moveTo>
                  <a:lnTo>
                    <a:pt x="110471731" y="0"/>
                  </a:lnTo>
                  <a:lnTo>
                    <a:pt x="110471731" y="144780"/>
                  </a:lnTo>
                  <a:lnTo>
                    <a:pt x="110326946" y="144780"/>
                  </a:lnTo>
                  <a:lnTo>
                    <a:pt x="1103269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0326946" y="0"/>
                  </a:lnTo>
                  <a:lnTo>
                    <a:pt x="1103269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A995CF"/>
            </a:solidFill>
          </p:spPr>
        </p:sp>
      </p:grpSp>
      <p:sp>
        <p:nvSpPr>
          <p:cNvPr name="Freeform 5" id="5"/>
          <p:cNvSpPr/>
          <p:nvPr/>
        </p:nvSpPr>
        <p:spPr>
          <a:xfrm flipH="true" flipV="true" rot="0">
            <a:off x="410863" y="3801205"/>
            <a:ext cx="17466274" cy="6102831"/>
          </a:xfrm>
          <a:custGeom>
            <a:avLst/>
            <a:gdLst/>
            <a:ahLst/>
            <a:cxnLst/>
            <a:rect r="r" b="b" t="t" l="l"/>
            <a:pathLst>
              <a:path h="6102831" w="17466274">
                <a:moveTo>
                  <a:pt x="17466274" y="6102831"/>
                </a:moveTo>
                <a:lnTo>
                  <a:pt x="0" y="6102831"/>
                </a:lnTo>
                <a:lnTo>
                  <a:pt x="0" y="0"/>
                </a:lnTo>
                <a:lnTo>
                  <a:pt x="17466274" y="0"/>
                </a:lnTo>
                <a:lnTo>
                  <a:pt x="17466274" y="6102831"/>
                </a:lnTo>
                <a:close/>
              </a:path>
            </a:pathLst>
          </a:custGeom>
          <a:blipFill>
            <a:blip r:embed="rId2"/>
            <a:stretch>
              <a:fillRect l="-6026" t="-65157" r="-602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29287"/>
            <a:ext cx="16230600" cy="347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KEYWORD EXTRACTION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563612"/>
            <a:ext cx="16230600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A WEB APPLICATION FOR JOURNALISTS, RESEARCHERS &amp; ANALYSTS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 Built using Pyth</a:t>
            </a:r>
            <a:r>
              <a:rPr lang="en-US" sz="3500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ON, STREAMLIT, AND SUMMA NLP</a:t>
            </a: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595295" y="8379837"/>
            <a:ext cx="309741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GROUP-13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PROMPT CRAFTERS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7C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863" y="382964"/>
            <a:ext cx="17466274" cy="9521072"/>
            <a:chOff x="0" y="0"/>
            <a:chExt cx="110471726" cy="6021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10326949" cy="60074661"/>
            </a:xfrm>
            <a:custGeom>
              <a:avLst/>
              <a:gdLst/>
              <a:ahLst/>
              <a:cxnLst/>
              <a:rect r="r" b="b" t="t" l="l"/>
              <a:pathLst>
                <a:path h="60074661" w="110326949">
                  <a:moveTo>
                    <a:pt x="0" y="0"/>
                  </a:moveTo>
                  <a:lnTo>
                    <a:pt x="110326949" y="0"/>
                  </a:lnTo>
                  <a:lnTo>
                    <a:pt x="110326949" y="60074661"/>
                  </a:lnTo>
                  <a:lnTo>
                    <a:pt x="0" y="60074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8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71731" cy="60219437"/>
            </a:xfrm>
            <a:custGeom>
              <a:avLst/>
              <a:gdLst/>
              <a:ahLst/>
              <a:cxnLst/>
              <a:rect r="r" b="b" t="t" l="l"/>
              <a:pathLst>
                <a:path h="60219437" w="110471731">
                  <a:moveTo>
                    <a:pt x="110326946" y="60074659"/>
                  </a:moveTo>
                  <a:lnTo>
                    <a:pt x="110471731" y="60074659"/>
                  </a:lnTo>
                  <a:lnTo>
                    <a:pt x="110471731" y="60219437"/>
                  </a:lnTo>
                  <a:lnTo>
                    <a:pt x="110326946" y="60219437"/>
                  </a:lnTo>
                  <a:lnTo>
                    <a:pt x="110326946" y="6007465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0074659"/>
                  </a:lnTo>
                  <a:lnTo>
                    <a:pt x="0" y="60074659"/>
                  </a:lnTo>
                  <a:lnTo>
                    <a:pt x="0" y="144780"/>
                  </a:lnTo>
                  <a:close/>
                  <a:moveTo>
                    <a:pt x="0" y="60074659"/>
                  </a:moveTo>
                  <a:lnTo>
                    <a:pt x="144780" y="60074659"/>
                  </a:lnTo>
                  <a:lnTo>
                    <a:pt x="144780" y="60219437"/>
                  </a:lnTo>
                  <a:lnTo>
                    <a:pt x="0" y="60219437"/>
                  </a:lnTo>
                  <a:lnTo>
                    <a:pt x="0" y="60074659"/>
                  </a:lnTo>
                  <a:close/>
                  <a:moveTo>
                    <a:pt x="110326946" y="144780"/>
                  </a:moveTo>
                  <a:lnTo>
                    <a:pt x="110471731" y="144780"/>
                  </a:lnTo>
                  <a:lnTo>
                    <a:pt x="110471731" y="60074659"/>
                  </a:lnTo>
                  <a:lnTo>
                    <a:pt x="110326946" y="60074659"/>
                  </a:lnTo>
                  <a:lnTo>
                    <a:pt x="110326946" y="144780"/>
                  </a:lnTo>
                  <a:close/>
                  <a:moveTo>
                    <a:pt x="144780" y="60074659"/>
                  </a:moveTo>
                  <a:lnTo>
                    <a:pt x="110326946" y="60074659"/>
                  </a:lnTo>
                  <a:lnTo>
                    <a:pt x="110326946" y="60219437"/>
                  </a:lnTo>
                  <a:lnTo>
                    <a:pt x="144780" y="60219437"/>
                  </a:lnTo>
                  <a:lnTo>
                    <a:pt x="144780" y="60074659"/>
                  </a:lnTo>
                  <a:close/>
                  <a:moveTo>
                    <a:pt x="110326946" y="0"/>
                  </a:moveTo>
                  <a:lnTo>
                    <a:pt x="110471731" y="0"/>
                  </a:lnTo>
                  <a:lnTo>
                    <a:pt x="110471731" y="144780"/>
                  </a:lnTo>
                  <a:lnTo>
                    <a:pt x="110326946" y="144780"/>
                  </a:lnTo>
                  <a:lnTo>
                    <a:pt x="1103269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0326946" y="0"/>
                  </a:lnTo>
                  <a:lnTo>
                    <a:pt x="1103269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A7CDD1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10863" y="2186706"/>
            <a:ext cx="17466274" cy="6501335"/>
          </a:xfrm>
          <a:custGeom>
            <a:avLst/>
            <a:gdLst/>
            <a:ahLst/>
            <a:cxnLst/>
            <a:rect r="r" b="b" t="t" l="l"/>
            <a:pathLst>
              <a:path h="6501335" w="17466274">
                <a:moveTo>
                  <a:pt x="0" y="0"/>
                </a:moveTo>
                <a:lnTo>
                  <a:pt x="17466274" y="0"/>
                </a:lnTo>
                <a:lnTo>
                  <a:pt x="17466274" y="6501336"/>
                </a:lnTo>
                <a:lnTo>
                  <a:pt x="0" y="6501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2573" y="3297424"/>
            <a:ext cx="16230600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M.Kalyani - </a:t>
            </a:r>
            <a:r>
              <a:rPr lang="en-US" sz="3999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AP23110010343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B.Jahnavi - AP23110010342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B.Ishwarya - AP23110010646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D.Tu</a:t>
            </a:r>
            <a:r>
              <a:rPr lang="en-US" sz="3999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rvi - AP23110010391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S.L.S.Sanjana - AP23110010295</a:t>
            </a:r>
          </a:p>
          <a:p>
            <a:pPr algn="ctr">
              <a:lnSpc>
                <a:spcPts val="55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10863" y="1319193"/>
            <a:ext cx="162306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GROUP MENBERS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9E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8724" y="411230"/>
            <a:ext cx="17466274" cy="9521072"/>
            <a:chOff x="0" y="0"/>
            <a:chExt cx="110471726" cy="6021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10326949" cy="60074661"/>
            </a:xfrm>
            <a:custGeom>
              <a:avLst/>
              <a:gdLst/>
              <a:ahLst/>
              <a:cxnLst/>
              <a:rect r="r" b="b" t="t" l="l"/>
              <a:pathLst>
                <a:path h="60074661" w="110326949">
                  <a:moveTo>
                    <a:pt x="0" y="0"/>
                  </a:moveTo>
                  <a:lnTo>
                    <a:pt x="110326949" y="0"/>
                  </a:lnTo>
                  <a:lnTo>
                    <a:pt x="110326949" y="60074661"/>
                  </a:lnTo>
                  <a:lnTo>
                    <a:pt x="0" y="60074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95C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71731" cy="60219437"/>
            </a:xfrm>
            <a:custGeom>
              <a:avLst/>
              <a:gdLst/>
              <a:ahLst/>
              <a:cxnLst/>
              <a:rect r="r" b="b" t="t" l="l"/>
              <a:pathLst>
                <a:path h="60219437" w="110471731">
                  <a:moveTo>
                    <a:pt x="110326946" y="60074659"/>
                  </a:moveTo>
                  <a:lnTo>
                    <a:pt x="110471731" y="60074659"/>
                  </a:lnTo>
                  <a:lnTo>
                    <a:pt x="110471731" y="60219437"/>
                  </a:lnTo>
                  <a:lnTo>
                    <a:pt x="110326946" y="60219437"/>
                  </a:lnTo>
                  <a:lnTo>
                    <a:pt x="110326946" y="6007465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0074659"/>
                  </a:lnTo>
                  <a:lnTo>
                    <a:pt x="0" y="60074659"/>
                  </a:lnTo>
                  <a:lnTo>
                    <a:pt x="0" y="144780"/>
                  </a:lnTo>
                  <a:close/>
                  <a:moveTo>
                    <a:pt x="0" y="60074659"/>
                  </a:moveTo>
                  <a:lnTo>
                    <a:pt x="144780" y="60074659"/>
                  </a:lnTo>
                  <a:lnTo>
                    <a:pt x="144780" y="60219437"/>
                  </a:lnTo>
                  <a:lnTo>
                    <a:pt x="0" y="60219437"/>
                  </a:lnTo>
                  <a:lnTo>
                    <a:pt x="0" y="60074659"/>
                  </a:lnTo>
                  <a:close/>
                  <a:moveTo>
                    <a:pt x="110326946" y="144780"/>
                  </a:moveTo>
                  <a:lnTo>
                    <a:pt x="110471731" y="144780"/>
                  </a:lnTo>
                  <a:lnTo>
                    <a:pt x="110471731" y="60074659"/>
                  </a:lnTo>
                  <a:lnTo>
                    <a:pt x="110326946" y="60074659"/>
                  </a:lnTo>
                  <a:lnTo>
                    <a:pt x="110326946" y="144780"/>
                  </a:lnTo>
                  <a:close/>
                  <a:moveTo>
                    <a:pt x="144780" y="60074659"/>
                  </a:moveTo>
                  <a:lnTo>
                    <a:pt x="110326946" y="60074659"/>
                  </a:lnTo>
                  <a:lnTo>
                    <a:pt x="110326946" y="60219437"/>
                  </a:lnTo>
                  <a:lnTo>
                    <a:pt x="144780" y="60219437"/>
                  </a:lnTo>
                  <a:lnTo>
                    <a:pt x="144780" y="60074659"/>
                  </a:lnTo>
                  <a:close/>
                  <a:moveTo>
                    <a:pt x="110326946" y="0"/>
                  </a:moveTo>
                  <a:lnTo>
                    <a:pt x="110471731" y="0"/>
                  </a:lnTo>
                  <a:lnTo>
                    <a:pt x="110471731" y="144780"/>
                  </a:lnTo>
                  <a:lnTo>
                    <a:pt x="110326946" y="144780"/>
                  </a:lnTo>
                  <a:lnTo>
                    <a:pt x="1103269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0326946" y="0"/>
                  </a:lnTo>
                  <a:lnTo>
                    <a:pt x="1103269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08724" y="764055"/>
            <a:ext cx="17466274" cy="8196575"/>
          </a:xfrm>
          <a:custGeom>
            <a:avLst/>
            <a:gdLst/>
            <a:ahLst/>
            <a:cxnLst/>
            <a:rect r="r" b="b" t="t" l="l"/>
            <a:pathLst>
              <a:path h="8196575" w="17466274">
                <a:moveTo>
                  <a:pt x="0" y="0"/>
                </a:moveTo>
                <a:lnTo>
                  <a:pt x="17466274" y="0"/>
                </a:lnTo>
                <a:lnTo>
                  <a:pt x="17466274" y="8196575"/>
                </a:lnTo>
                <a:lnTo>
                  <a:pt x="0" y="8196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26" t="-22969" r="-602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07941" y="1338279"/>
            <a:ext cx="15272118" cy="6050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2"/>
              </a:lnSpc>
            </a:pPr>
            <a:r>
              <a:rPr lang="en-US" sz="549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</a:t>
            </a:r>
          </a:p>
          <a:p>
            <a:pPr algn="ctr">
              <a:lnSpc>
                <a:spcPts val="6103"/>
              </a:lnSpc>
            </a:pPr>
          </a:p>
          <a:p>
            <a:pPr algn="l" marL="1043735" indent="-521867" lvl="1">
              <a:lnSpc>
                <a:spcPts val="6284"/>
              </a:lnSpc>
              <a:buFont typeface="Arial"/>
              <a:buChar char="•"/>
            </a:pPr>
            <a:r>
              <a:rPr lang="en-US" sz="48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Large documents such as articles, reports, and research papers contain massive information.</a:t>
            </a:r>
          </a:p>
          <a:p>
            <a:pPr algn="l" marL="1043735" indent="-521867" lvl="1">
              <a:lnSpc>
                <a:spcPts val="6284"/>
              </a:lnSpc>
              <a:buFont typeface="Arial"/>
              <a:buChar char="•"/>
            </a:pPr>
            <a:r>
              <a:rPr lang="en-US" sz="48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Manual reading is time-consuming, and identifying key ideas is difficult.</a:t>
            </a:r>
          </a:p>
          <a:p>
            <a:pPr algn="ctr">
              <a:lnSpc>
                <a:spcPts val="5504"/>
              </a:lnSpc>
            </a:pPr>
          </a:p>
          <a:p>
            <a:pPr algn="ctr">
              <a:lnSpc>
                <a:spcPts val="416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9E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8724" y="411230"/>
            <a:ext cx="17466274" cy="9521072"/>
            <a:chOff x="0" y="0"/>
            <a:chExt cx="110471726" cy="6021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10326949" cy="60074661"/>
            </a:xfrm>
            <a:custGeom>
              <a:avLst/>
              <a:gdLst/>
              <a:ahLst/>
              <a:cxnLst/>
              <a:rect r="r" b="b" t="t" l="l"/>
              <a:pathLst>
                <a:path h="60074661" w="110326949">
                  <a:moveTo>
                    <a:pt x="0" y="0"/>
                  </a:moveTo>
                  <a:lnTo>
                    <a:pt x="110326949" y="0"/>
                  </a:lnTo>
                  <a:lnTo>
                    <a:pt x="110326949" y="60074661"/>
                  </a:lnTo>
                  <a:lnTo>
                    <a:pt x="0" y="60074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95C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71731" cy="60219437"/>
            </a:xfrm>
            <a:custGeom>
              <a:avLst/>
              <a:gdLst/>
              <a:ahLst/>
              <a:cxnLst/>
              <a:rect r="r" b="b" t="t" l="l"/>
              <a:pathLst>
                <a:path h="60219437" w="110471731">
                  <a:moveTo>
                    <a:pt x="110326946" y="60074659"/>
                  </a:moveTo>
                  <a:lnTo>
                    <a:pt x="110471731" y="60074659"/>
                  </a:lnTo>
                  <a:lnTo>
                    <a:pt x="110471731" y="60219437"/>
                  </a:lnTo>
                  <a:lnTo>
                    <a:pt x="110326946" y="60219437"/>
                  </a:lnTo>
                  <a:lnTo>
                    <a:pt x="110326946" y="6007465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0074659"/>
                  </a:lnTo>
                  <a:lnTo>
                    <a:pt x="0" y="60074659"/>
                  </a:lnTo>
                  <a:lnTo>
                    <a:pt x="0" y="144780"/>
                  </a:lnTo>
                  <a:close/>
                  <a:moveTo>
                    <a:pt x="0" y="60074659"/>
                  </a:moveTo>
                  <a:lnTo>
                    <a:pt x="144780" y="60074659"/>
                  </a:lnTo>
                  <a:lnTo>
                    <a:pt x="144780" y="60219437"/>
                  </a:lnTo>
                  <a:lnTo>
                    <a:pt x="0" y="60219437"/>
                  </a:lnTo>
                  <a:lnTo>
                    <a:pt x="0" y="60074659"/>
                  </a:lnTo>
                  <a:close/>
                  <a:moveTo>
                    <a:pt x="110326946" y="144780"/>
                  </a:moveTo>
                  <a:lnTo>
                    <a:pt x="110471731" y="144780"/>
                  </a:lnTo>
                  <a:lnTo>
                    <a:pt x="110471731" y="60074659"/>
                  </a:lnTo>
                  <a:lnTo>
                    <a:pt x="110326946" y="60074659"/>
                  </a:lnTo>
                  <a:lnTo>
                    <a:pt x="110326946" y="144780"/>
                  </a:lnTo>
                  <a:close/>
                  <a:moveTo>
                    <a:pt x="144780" y="60074659"/>
                  </a:moveTo>
                  <a:lnTo>
                    <a:pt x="110326946" y="60074659"/>
                  </a:lnTo>
                  <a:lnTo>
                    <a:pt x="110326946" y="60219437"/>
                  </a:lnTo>
                  <a:lnTo>
                    <a:pt x="144780" y="60219437"/>
                  </a:lnTo>
                  <a:lnTo>
                    <a:pt x="144780" y="60074659"/>
                  </a:lnTo>
                  <a:close/>
                  <a:moveTo>
                    <a:pt x="110326946" y="0"/>
                  </a:moveTo>
                  <a:lnTo>
                    <a:pt x="110471731" y="0"/>
                  </a:lnTo>
                  <a:lnTo>
                    <a:pt x="110471731" y="144780"/>
                  </a:lnTo>
                  <a:lnTo>
                    <a:pt x="110326946" y="144780"/>
                  </a:lnTo>
                  <a:lnTo>
                    <a:pt x="1103269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0326946" y="0"/>
                  </a:lnTo>
                  <a:lnTo>
                    <a:pt x="1103269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08724" y="764055"/>
            <a:ext cx="17466274" cy="8196575"/>
          </a:xfrm>
          <a:custGeom>
            <a:avLst/>
            <a:gdLst/>
            <a:ahLst/>
            <a:cxnLst/>
            <a:rect r="r" b="b" t="t" l="l"/>
            <a:pathLst>
              <a:path h="8196575" w="17466274">
                <a:moveTo>
                  <a:pt x="0" y="0"/>
                </a:moveTo>
                <a:lnTo>
                  <a:pt x="17466274" y="0"/>
                </a:lnTo>
                <a:lnTo>
                  <a:pt x="17466274" y="8196575"/>
                </a:lnTo>
                <a:lnTo>
                  <a:pt x="0" y="8196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26" t="-22969" r="-602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07941" y="1243956"/>
            <a:ext cx="15272118" cy="622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2"/>
              </a:lnSpc>
            </a:pPr>
            <a:r>
              <a:rPr lang="en-US" sz="589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Objectives</a:t>
            </a:r>
          </a:p>
          <a:p>
            <a:pPr algn="l" marL="862442" indent="-431221" lvl="1">
              <a:lnSpc>
                <a:spcPts val="5193"/>
              </a:lnSpc>
              <a:buFont typeface="Arial"/>
              <a:buChar char="•"/>
            </a:pPr>
            <a:r>
              <a:rPr lang="en-US" sz="39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extract meaningful keywords and keyphrases automatically</a:t>
            </a:r>
          </a:p>
          <a:p>
            <a:pPr algn="l" marL="862442" indent="-431221" lvl="1">
              <a:lnSpc>
                <a:spcPts val="5193"/>
              </a:lnSpc>
              <a:buFont typeface="Arial"/>
              <a:buChar char="•"/>
            </a:pPr>
            <a:r>
              <a:rPr lang="en-US" sz="39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generate concise summaries of large documents</a:t>
            </a:r>
          </a:p>
          <a:p>
            <a:pPr algn="l" marL="862442" indent="-431221" lvl="1">
              <a:lnSpc>
                <a:spcPts val="5193"/>
              </a:lnSpc>
              <a:buFont typeface="Arial"/>
              <a:buChar char="•"/>
            </a:pPr>
            <a:r>
              <a:rPr lang="en-US" sz="39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provide visual insights through word cloud</a:t>
            </a:r>
          </a:p>
          <a:p>
            <a:pPr algn="l" marL="862442" indent="-431221" lvl="1">
              <a:lnSpc>
                <a:spcPts val="5193"/>
              </a:lnSpc>
              <a:buFont typeface="Arial"/>
              <a:buChar char="•"/>
            </a:pPr>
            <a:r>
              <a:rPr lang="en-US" sz="39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support journalists, researchers, and analysts in quick decision-making</a:t>
            </a:r>
          </a:p>
          <a:p>
            <a:pPr algn="l" marL="862442" indent="-431221" lvl="1">
              <a:lnSpc>
                <a:spcPts val="5193"/>
              </a:lnSpc>
              <a:buFont typeface="Arial"/>
              <a:buChar char="•"/>
            </a:pPr>
            <a:r>
              <a:rPr lang="en-US" sz="39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build a simple and efficient web app using Streamlit</a:t>
            </a:r>
          </a:p>
          <a:p>
            <a:pPr algn="l">
              <a:lnSpc>
                <a:spcPts val="524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7C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863" y="382964"/>
            <a:ext cx="17466274" cy="9521072"/>
            <a:chOff x="0" y="0"/>
            <a:chExt cx="110471726" cy="6021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10326949" cy="60074661"/>
            </a:xfrm>
            <a:custGeom>
              <a:avLst/>
              <a:gdLst/>
              <a:ahLst/>
              <a:cxnLst/>
              <a:rect r="r" b="b" t="t" l="l"/>
              <a:pathLst>
                <a:path h="60074661" w="110326949">
                  <a:moveTo>
                    <a:pt x="0" y="0"/>
                  </a:moveTo>
                  <a:lnTo>
                    <a:pt x="110326949" y="0"/>
                  </a:lnTo>
                  <a:lnTo>
                    <a:pt x="110326949" y="60074661"/>
                  </a:lnTo>
                  <a:lnTo>
                    <a:pt x="0" y="60074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8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71731" cy="60219437"/>
            </a:xfrm>
            <a:custGeom>
              <a:avLst/>
              <a:gdLst/>
              <a:ahLst/>
              <a:cxnLst/>
              <a:rect r="r" b="b" t="t" l="l"/>
              <a:pathLst>
                <a:path h="60219437" w="110471731">
                  <a:moveTo>
                    <a:pt x="110326946" y="60074659"/>
                  </a:moveTo>
                  <a:lnTo>
                    <a:pt x="110471731" y="60074659"/>
                  </a:lnTo>
                  <a:lnTo>
                    <a:pt x="110471731" y="60219437"/>
                  </a:lnTo>
                  <a:lnTo>
                    <a:pt x="110326946" y="60219437"/>
                  </a:lnTo>
                  <a:lnTo>
                    <a:pt x="110326946" y="6007465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0074659"/>
                  </a:lnTo>
                  <a:lnTo>
                    <a:pt x="0" y="60074659"/>
                  </a:lnTo>
                  <a:lnTo>
                    <a:pt x="0" y="144780"/>
                  </a:lnTo>
                  <a:close/>
                  <a:moveTo>
                    <a:pt x="0" y="60074659"/>
                  </a:moveTo>
                  <a:lnTo>
                    <a:pt x="144780" y="60074659"/>
                  </a:lnTo>
                  <a:lnTo>
                    <a:pt x="144780" y="60219437"/>
                  </a:lnTo>
                  <a:lnTo>
                    <a:pt x="0" y="60219437"/>
                  </a:lnTo>
                  <a:lnTo>
                    <a:pt x="0" y="60074659"/>
                  </a:lnTo>
                  <a:close/>
                  <a:moveTo>
                    <a:pt x="110326946" y="144780"/>
                  </a:moveTo>
                  <a:lnTo>
                    <a:pt x="110471731" y="144780"/>
                  </a:lnTo>
                  <a:lnTo>
                    <a:pt x="110471731" y="60074659"/>
                  </a:lnTo>
                  <a:lnTo>
                    <a:pt x="110326946" y="60074659"/>
                  </a:lnTo>
                  <a:lnTo>
                    <a:pt x="110326946" y="144780"/>
                  </a:lnTo>
                  <a:close/>
                  <a:moveTo>
                    <a:pt x="144780" y="60074659"/>
                  </a:moveTo>
                  <a:lnTo>
                    <a:pt x="110326946" y="60074659"/>
                  </a:lnTo>
                  <a:lnTo>
                    <a:pt x="110326946" y="60219437"/>
                  </a:lnTo>
                  <a:lnTo>
                    <a:pt x="144780" y="60219437"/>
                  </a:lnTo>
                  <a:lnTo>
                    <a:pt x="144780" y="60074659"/>
                  </a:lnTo>
                  <a:close/>
                  <a:moveTo>
                    <a:pt x="110326946" y="0"/>
                  </a:moveTo>
                  <a:lnTo>
                    <a:pt x="110471731" y="0"/>
                  </a:lnTo>
                  <a:lnTo>
                    <a:pt x="110471731" y="144780"/>
                  </a:lnTo>
                  <a:lnTo>
                    <a:pt x="110326946" y="144780"/>
                  </a:lnTo>
                  <a:lnTo>
                    <a:pt x="1103269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0326946" y="0"/>
                  </a:lnTo>
                  <a:lnTo>
                    <a:pt x="1103269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A7CDD1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410841" y="1707461"/>
            <a:ext cx="17466274" cy="7550839"/>
          </a:xfrm>
          <a:custGeom>
            <a:avLst/>
            <a:gdLst/>
            <a:ahLst/>
            <a:cxnLst/>
            <a:rect r="r" b="b" t="t" l="l"/>
            <a:pathLst>
              <a:path h="7550839" w="17466274">
                <a:moveTo>
                  <a:pt x="0" y="7550839"/>
                </a:moveTo>
                <a:lnTo>
                  <a:pt x="17466274" y="7550839"/>
                </a:lnTo>
                <a:lnTo>
                  <a:pt x="17466274" y="0"/>
                </a:lnTo>
                <a:lnTo>
                  <a:pt x="0" y="0"/>
                </a:lnTo>
                <a:lnTo>
                  <a:pt x="0" y="7550839"/>
                </a:lnTo>
                <a:close/>
              </a:path>
            </a:pathLst>
          </a:custGeom>
          <a:blipFill>
            <a:blip r:embed="rId2"/>
            <a:stretch>
              <a:fillRect l="-6026" t="-33485" r="-602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4285" y="1186761"/>
            <a:ext cx="162306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</a:t>
            </a:r>
            <a:r>
              <a:rPr lang="en-US" sz="5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roposed Solution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40705" y="4210075"/>
            <a:ext cx="14206589" cy="477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hybrid NLP-based system combining rule-based text processing and TextRank ML algorithm to extract keywords, summaries, and visualizations.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</a:p>
          <a:p>
            <a:pPr algn="ctr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7C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863" y="382964"/>
            <a:ext cx="17466274" cy="9521072"/>
            <a:chOff x="0" y="0"/>
            <a:chExt cx="110471726" cy="6021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10326949" cy="60074661"/>
            </a:xfrm>
            <a:custGeom>
              <a:avLst/>
              <a:gdLst/>
              <a:ahLst/>
              <a:cxnLst/>
              <a:rect r="r" b="b" t="t" l="l"/>
              <a:pathLst>
                <a:path h="60074661" w="110326949">
                  <a:moveTo>
                    <a:pt x="0" y="0"/>
                  </a:moveTo>
                  <a:lnTo>
                    <a:pt x="110326949" y="0"/>
                  </a:lnTo>
                  <a:lnTo>
                    <a:pt x="110326949" y="60074661"/>
                  </a:lnTo>
                  <a:lnTo>
                    <a:pt x="0" y="60074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8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71731" cy="60219437"/>
            </a:xfrm>
            <a:custGeom>
              <a:avLst/>
              <a:gdLst/>
              <a:ahLst/>
              <a:cxnLst/>
              <a:rect r="r" b="b" t="t" l="l"/>
              <a:pathLst>
                <a:path h="60219437" w="110471731">
                  <a:moveTo>
                    <a:pt x="110326946" y="60074659"/>
                  </a:moveTo>
                  <a:lnTo>
                    <a:pt x="110471731" y="60074659"/>
                  </a:lnTo>
                  <a:lnTo>
                    <a:pt x="110471731" y="60219437"/>
                  </a:lnTo>
                  <a:lnTo>
                    <a:pt x="110326946" y="60219437"/>
                  </a:lnTo>
                  <a:lnTo>
                    <a:pt x="110326946" y="6007465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0074659"/>
                  </a:lnTo>
                  <a:lnTo>
                    <a:pt x="0" y="60074659"/>
                  </a:lnTo>
                  <a:lnTo>
                    <a:pt x="0" y="144780"/>
                  </a:lnTo>
                  <a:close/>
                  <a:moveTo>
                    <a:pt x="0" y="60074659"/>
                  </a:moveTo>
                  <a:lnTo>
                    <a:pt x="144780" y="60074659"/>
                  </a:lnTo>
                  <a:lnTo>
                    <a:pt x="144780" y="60219437"/>
                  </a:lnTo>
                  <a:lnTo>
                    <a:pt x="0" y="60219437"/>
                  </a:lnTo>
                  <a:lnTo>
                    <a:pt x="0" y="60074659"/>
                  </a:lnTo>
                  <a:close/>
                  <a:moveTo>
                    <a:pt x="110326946" y="144780"/>
                  </a:moveTo>
                  <a:lnTo>
                    <a:pt x="110471731" y="144780"/>
                  </a:lnTo>
                  <a:lnTo>
                    <a:pt x="110471731" y="60074659"/>
                  </a:lnTo>
                  <a:lnTo>
                    <a:pt x="110326946" y="60074659"/>
                  </a:lnTo>
                  <a:lnTo>
                    <a:pt x="110326946" y="144780"/>
                  </a:lnTo>
                  <a:close/>
                  <a:moveTo>
                    <a:pt x="144780" y="60074659"/>
                  </a:moveTo>
                  <a:lnTo>
                    <a:pt x="110326946" y="60074659"/>
                  </a:lnTo>
                  <a:lnTo>
                    <a:pt x="110326946" y="60219437"/>
                  </a:lnTo>
                  <a:lnTo>
                    <a:pt x="144780" y="60219437"/>
                  </a:lnTo>
                  <a:lnTo>
                    <a:pt x="144780" y="60074659"/>
                  </a:lnTo>
                  <a:close/>
                  <a:moveTo>
                    <a:pt x="110326946" y="0"/>
                  </a:moveTo>
                  <a:lnTo>
                    <a:pt x="110471731" y="0"/>
                  </a:lnTo>
                  <a:lnTo>
                    <a:pt x="110471731" y="144780"/>
                  </a:lnTo>
                  <a:lnTo>
                    <a:pt x="110326946" y="144780"/>
                  </a:lnTo>
                  <a:lnTo>
                    <a:pt x="1103269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0326946" y="0"/>
                  </a:lnTo>
                  <a:lnTo>
                    <a:pt x="1103269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A7CDD1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410841" y="1707461"/>
            <a:ext cx="17466274" cy="7550839"/>
          </a:xfrm>
          <a:custGeom>
            <a:avLst/>
            <a:gdLst/>
            <a:ahLst/>
            <a:cxnLst/>
            <a:rect r="r" b="b" t="t" l="l"/>
            <a:pathLst>
              <a:path h="7550839" w="17466274">
                <a:moveTo>
                  <a:pt x="0" y="7550839"/>
                </a:moveTo>
                <a:lnTo>
                  <a:pt x="17466274" y="7550839"/>
                </a:lnTo>
                <a:lnTo>
                  <a:pt x="17466274" y="0"/>
                </a:lnTo>
                <a:lnTo>
                  <a:pt x="0" y="0"/>
                </a:lnTo>
                <a:lnTo>
                  <a:pt x="0" y="7550839"/>
                </a:lnTo>
                <a:close/>
              </a:path>
            </a:pathLst>
          </a:custGeom>
          <a:blipFill>
            <a:blip r:embed="rId2"/>
            <a:stretch>
              <a:fillRect l="-6026" t="-33485" r="-602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678" y="1416572"/>
            <a:ext cx="162306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W</a:t>
            </a:r>
            <a:r>
              <a:rPr lang="en-US" sz="5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orkflow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5271" y="3268086"/>
            <a:ext cx="16891844" cy="493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724" indent="-507362" lvl="1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User uploads or pastes text</a:t>
            </a:r>
          </a:p>
          <a:p>
            <a:pPr algn="l" marL="1014724" indent="-507362" lvl="1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System preprocesses text</a:t>
            </a:r>
          </a:p>
          <a:p>
            <a:pPr algn="l" marL="1014724" indent="-507362" lvl="1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TextRank extracts top keywords</a:t>
            </a:r>
          </a:p>
          <a:p>
            <a:pPr algn="l" marL="1014724" indent="-507362" lvl="1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Text summary is generated</a:t>
            </a:r>
          </a:p>
          <a:p>
            <a:pPr algn="l" marL="1014724" indent="-507362" lvl="1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Word cloud visualizes high-frequency words</a:t>
            </a:r>
          </a:p>
          <a:p>
            <a:pPr algn="l" marL="1014724" indent="-507362" lvl="1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Outputs are displayed and downloadable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99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863" y="382964"/>
            <a:ext cx="17466274" cy="9521072"/>
            <a:chOff x="0" y="0"/>
            <a:chExt cx="110471726" cy="6021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10326949" cy="60074661"/>
            </a:xfrm>
            <a:custGeom>
              <a:avLst/>
              <a:gdLst/>
              <a:ahLst/>
              <a:cxnLst/>
              <a:rect r="r" b="b" t="t" l="l"/>
              <a:pathLst>
                <a:path h="60074661" w="110326949">
                  <a:moveTo>
                    <a:pt x="0" y="0"/>
                  </a:moveTo>
                  <a:lnTo>
                    <a:pt x="110326949" y="0"/>
                  </a:lnTo>
                  <a:lnTo>
                    <a:pt x="110326949" y="60074661"/>
                  </a:lnTo>
                  <a:lnTo>
                    <a:pt x="0" y="60074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9EA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71731" cy="60219437"/>
            </a:xfrm>
            <a:custGeom>
              <a:avLst/>
              <a:gdLst/>
              <a:ahLst/>
              <a:cxnLst/>
              <a:rect r="r" b="b" t="t" l="l"/>
              <a:pathLst>
                <a:path h="60219437" w="110471731">
                  <a:moveTo>
                    <a:pt x="110326946" y="60074659"/>
                  </a:moveTo>
                  <a:lnTo>
                    <a:pt x="110471731" y="60074659"/>
                  </a:lnTo>
                  <a:lnTo>
                    <a:pt x="110471731" y="60219437"/>
                  </a:lnTo>
                  <a:lnTo>
                    <a:pt x="110326946" y="60219437"/>
                  </a:lnTo>
                  <a:lnTo>
                    <a:pt x="110326946" y="6007465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0074659"/>
                  </a:lnTo>
                  <a:lnTo>
                    <a:pt x="0" y="60074659"/>
                  </a:lnTo>
                  <a:lnTo>
                    <a:pt x="0" y="144780"/>
                  </a:lnTo>
                  <a:close/>
                  <a:moveTo>
                    <a:pt x="0" y="60074659"/>
                  </a:moveTo>
                  <a:lnTo>
                    <a:pt x="144780" y="60074659"/>
                  </a:lnTo>
                  <a:lnTo>
                    <a:pt x="144780" y="60219437"/>
                  </a:lnTo>
                  <a:lnTo>
                    <a:pt x="0" y="60219437"/>
                  </a:lnTo>
                  <a:lnTo>
                    <a:pt x="0" y="60074659"/>
                  </a:lnTo>
                  <a:close/>
                  <a:moveTo>
                    <a:pt x="110326946" y="144780"/>
                  </a:moveTo>
                  <a:lnTo>
                    <a:pt x="110471731" y="144780"/>
                  </a:lnTo>
                  <a:lnTo>
                    <a:pt x="110471731" y="60074659"/>
                  </a:lnTo>
                  <a:lnTo>
                    <a:pt x="110326946" y="60074659"/>
                  </a:lnTo>
                  <a:lnTo>
                    <a:pt x="110326946" y="144780"/>
                  </a:lnTo>
                  <a:close/>
                  <a:moveTo>
                    <a:pt x="144780" y="60074659"/>
                  </a:moveTo>
                  <a:lnTo>
                    <a:pt x="110326946" y="60074659"/>
                  </a:lnTo>
                  <a:lnTo>
                    <a:pt x="110326946" y="60219437"/>
                  </a:lnTo>
                  <a:lnTo>
                    <a:pt x="144780" y="60219437"/>
                  </a:lnTo>
                  <a:lnTo>
                    <a:pt x="144780" y="60074659"/>
                  </a:lnTo>
                  <a:close/>
                  <a:moveTo>
                    <a:pt x="110326946" y="0"/>
                  </a:moveTo>
                  <a:lnTo>
                    <a:pt x="110471731" y="0"/>
                  </a:lnTo>
                  <a:lnTo>
                    <a:pt x="110471731" y="144780"/>
                  </a:lnTo>
                  <a:lnTo>
                    <a:pt x="110326946" y="144780"/>
                  </a:lnTo>
                  <a:lnTo>
                    <a:pt x="1103269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0326946" y="0"/>
                  </a:lnTo>
                  <a:lnTo>
                    <a:pt x="1103269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A9EA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410863" y="2094438"/>
            <a:ext cx="17466274" cy="7550839"/>
          </a:xfrm>
          <a:custGeom>
            <a:avLst/>
            <a:gdLst/>
            <a:ahLst/>
            <a:cxnLst/>
            <a:rect r="r" b="b" t="t" l="l"/>
            <a:pathLst>
              <a:path h="7550839" w="17466274">
                <a:moveTo>
                  <a:pt x="0" y="7550838"/>
                </a:moveTo>
                <a:lnTo>
                  <a:pt x="17466274" y="7550838"/>
                </a:lnTo>
                <a:lnTo>
                  <a:pt x="17466274" y="0"/>
                </a:lnTo>
                <a:lnTo>
                  <a:pt x="0" y="0"/>
                </a:lnTo>
                <a:lnTo>
                  <a:pt x="0" y="7550838"/>
                </a:lnTo>
                <a:close/>
              </a:path>
            </a:pathLst>
          </a:custGeom>
          <a:blipFill>
            <a:blip r:embed="rId2"/>
            <a:stretch>
              <a:fillRect l="-6026" t="-33485" r="-602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3547"/>
            <a:ext cx="162306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Da</a:t>
            </a:r>
            <a:r>
              <a:rPr lang="en-US" sz="5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taset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88763" y="4136965"/>
            <a:ext cx="9706196" cy="576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724" indent="-507362" lvl="1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Dataset</a:t>
            </a:r>
          </a:p>
          <a:p>
            <a:pPr algn="l" marL="1014724" indent="-507362" lvl="1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 fixed dataset required</a:t>
            </a:r>
          </a:p>
          <a:p>
            <a:pPr algn="l" marL="1014724" indent="-507362" lvl="1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System works on any user-provided text (articles, reports, essays, investigations)</a:t>
            </a:r>
          </a:p>
          <a:p>
            <a:pPr algn="l">
              <a:lnSpc>
                <a:spcPts val="6579"/>
              </a:lnSpc>
              <a:spcBef>
                <a:spcPct val="0"/>
              </a:spcBef>
            </a:pPr>
          </a:p>
          <a:p>
            <a:pPr algn="l">
              <a:lnSpc>
                <a:spcPts val="65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99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863" y="382964"/>
            <a:ext cx="17466274" cy="9521072"/>
            <a:chOff x="0" y="0"/>
            <a:chExt cx="110471726" cy="6021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10326949" cy="60074661"/>
            </a:xfrm>
            <a:custGeom>
              <a:avLst/>
              <a:gdLst/>
              <a:ahLst/>
              <a:cxnLst/>
              <a:rect r="r" b="b" t="t" l="l"/>
              <a:pathLst>
                <a:path h="60074661" w="110326949">
                  <a:moveTo>
                    <a:pt x="0" y="0"/>
                  </a:moveTo>
                  <a:lnTo>
                    <a:pt x="110326949" y="0"/>
                  </a:lnTo>
                  <a:lnTo>
                    <a:pt x="110326949" y="60074661"/>
                  </a:lnTo>
                  <a:lnTo>
                    <a:pt x="0" y="60074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9EA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71731" cy="60219437"/>
            </a:xfrm>
            <a:custGeom>
              <a:avLst/>
              <a:gdLst/>
              <a:ahLst/>
              <a:cxnLst/>
              <a:rect r="r" b="b" t="t" l="l"/>
              <a:pathLst>
                <a:path h="60219437" w="110471731">
                  <a:moveTo>
                    <a:pt x="110326946" y="60074659"/>
                  </a:moveTo>
                  <a:lnTo>
                    <a:pt x="110471731" y="60074659"/>
                  </a:lnTo>
                  <a:lnTo>
                    <a:pt x="110471731" y="60219437"/>
                  </a:lnTo>
                  <a:lnTo>
                    <a:pt x="110326946" y="60219437"/>
                  </a:lnTo>
                  <a:lnTo>
                    <a:pt x="110326946" y="6007465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0074659"/>
                  </a:lnTo>
                  <a:lnTo>
                    <a:pt x="0" y="60074659"/>
                  </a:lnTo>
                  <a:lnTo>
                    <a:pt x="0" y="144780"/>
                  </a:lnTo>
                  <a:close/>
                  <a:moveTo>
                    <a:pt x="0" y="60074659"/>
                  </a:moveTo>
                  <a:lnTo>
                    <a:pt x="144780" y="60074659"/>
                  </a:lnTo>
                  <a:lnTo>
                    <a:pt x="144780" y="60219437"/>
                  </a:lnTo>
                  <a:lnTo>
                    <a:pt x="0" y="60219437"/>
                  </a:lnTo>
                  <a:lnTo>
                    <a:pt x="0" y="60074659"/>
                  </a:lnTo>
                  <a:close/>
                  <a:moveTo>
                    <a:pt x="110326946" y="144780"/>
                  </a:moveTo>
                  <a:lnTo>
                    <a:pt x="110471731" y="144780"/>
                  </a:lnTo>
                  <a:lnTo>
                    <a:pt x="110471731" y="60074659"/>
                  </a:lnTo>
                  <a:lnTo>
                    <a:pt x="110326946" y="60074659"/>
                  </a:lnTo>
                  <a:lnTo>
                    <a:pt x="110326946" y="144780"/>
                  </a:lnTo>
                  <a:close/>
                  <a:moveTo>
                    <a:pt x="144780" y="60074659"/>
                  </a:moveTo>
                  <a:lnTo>
                    <a:pt x="110326946" y="60074659"/>
                  </a:lnTo>
                  <a:lnTo>
                    <a:pt x="110326946" y="60219437"/>
                  </a:lnTo>
                  <a:lnTo>
                    <a:pt x="144780" y="60219437"/>
                  </a:lnTo>
                  <a:lnTo>
                    <a:pt x="144780" y="60074659"/>
                  </a:lnTo>
                  <a:close/>
                  <a:moveTo>
                    <a:pt x="110326946" y="0"/>
                  </a:moveTo>
                  <a:lnTo>
                    <a:pt x="110471731" y="0"/>
                  </a:lnTo>
                  <a:lnTo>
                    <a:pt x="110471731" y="144780"/>
                  </a:lnTo>
                  <a:lnTo>
                    <a:pt x="110326946" y="144780"/>
                  </a:lnTo>
                  <a:lnTo>
                    <a:pt x="1103269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0326946" y="0"/>
                  </a:lnTo>
                  <a:lnTo>
                    <a:pt x="1103269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A9EAD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410863" y="2094438"/>
            <a:ext cx="17466274" cy="7550839"/>
          </a:xfrm>
          <a:custGeom>
            <a:avLst/>
            <a:gdLst/>
            <a:ahLst/>
            <a:cxnLst/>
            <a:rect r="r" b="b" t="t" l="l"/>
            <a:pathLst>
              <a:path h="7550839" w="17466274">
                <a:moveTo>
                  <a:pt x="0" y="7550838"/>
                </a:moveTo>
                <a:lnTo>
                  <a:pt x="17466274" y="7550838"/>
                </a:lnTo>
                <a:lnTo>
                  <a:pt x="17466274" y="0"/>
                </a:lnTo>
                <a:lnTo>
                  <a:pt x="0" y="0"/>
                </a:lnTo>
                <a:lnTo>
                  <a:pt x="0" y="7550838"/>
                </a:lnTo>
                <a:close/>
              </a:path>
            </a:pathLst>
          </a:custGeom>
          <a:blipFill>
            <a:blip r:embed="rId2"/>
            <a:stretch>
              <a:fillRect l="-6026" t="-33485" r="-602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3547"/>
            <a:ext cx="162306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</a:t>
            </a:r>
            <a:r>
              <a:rPr lang="en-US" sz="5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4939" y="4231047"/>
            <a:ext cx="14485264" cy="477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Text Preprocessing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Keyword Extraction using TextRank (Summa library)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Summarization using Extractive ML techniques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Word Frequency Computation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Visualization using WordCloud + Matplotlib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Streamlit UI for interaction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99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537" y="745513"/>
            <a:ext cx="8804535" cy="4397987"/>
          </a:xfrm>
          <a:custGeom>
            <a:avLst/>
            <a:gdLst/>
            <a:ahLst/>
            <a:cxnLst/>
            <a:rect r="r" b="b" t="t" l="l"/>
            <a:pathLst>
              <a:path h="4397987" w="8804535">
                <a:moveTo>
                  <a:pt x="0" y="0"/>
                </a:moveTo>
                <a:lnTo>
                  <a:pt x="8804535" y="0"/>
                </a:lnTo>
                <a:lnTo>
                  <a:pt x="8804535" y="4397987"/>
                </a:lnTo>
                <a:lnTo>
                  <a:pt x="0" y="4397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102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84397" y="745513"/>
            <a:ext cx="8760188" cy="4397987"/>
          </a:xfrm>
          <a:custGeom>
            <a:avLst/>
            <a:gdLst/>
            <a:ahLst/>
            <a:cxnLst/>
            <a:rect r="r" b="b" t="t" l="l"/>
            <a:pathLst>
              <a:path h="4397987" w="8760188">
                <a:moveTo>
                  <a:pt x="0" y="0"/>
                </a:moveTo>
                <a:lnTo>
                  <a:pt x="8760187" y="0"/>
                </a:lnTo>
                <a:lnTo>
                  <a:pt x="8760187" y="4397987"/>
                </a:lnTo>
                <a:lnTo>
                  <a:pt x="0" y="4397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86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08591" y="5429421"/>
            <a:ext cx="9151611" cy="4595496"/>
          </a:xfrm>
          <a:custGeom>
            <a:avLst/>
            <a:gdLst/>
            <a:ahLst/>
            <a:cxnLst/>
            <a:rect r="r" b="b" t="t" l="l"/>
            <a:pathLst>
              <a:path h="4595496" w="9151611">
                <a:moveTo>
                  <a:pt x="0" y="0"/>
                </a:moveTo>
                <a:lnTo>
                  <a:pt x="9151611" y="0"/>
                </a:lnTo>
                <a:lnTo>
                  <a:pt x="9151611" y="4595496"/>
                </a:lnTo>
                <a:lnTo>
                  <a:pt x="0" y="45954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321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9E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885" y="382964"/>
            <a:ext cx="17466274" cy="9521072"/>
            <a:chOff x="0" y="0"/>
            <a:chExt cx="110471726" cy="6021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10326949" cy="60074661"/>
            </a:xfrm>
            <a:custGeom>
              <a:avLst/>
              <a:gdLst/>
              <a:ahLst/>
              <a:cxnLst/>
              <a:rect r="r" b="b" t="t" l="l"/>
              <a:pathLst>
                <a:path h="60074661" w="110326949">
                  <a:moveTo>
                    <a:pt x="0" y="0"/>
                  </a:moveTo>
                  <a:lnTo>
                    <a:pt x="110326949" y="0"/>
                  </a:lnTo>
                  <a:lnTo>
                    <a:pt x="110326949" y="60074661"/>
                  </a:lnTo>
                  <a:lnTo>
                    <a:pt x="0" y="60074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CDD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71731" cy="60219437"/>
            </a:xfrm>
            <a:custGeom>
              <a:avLst/>
              <a:gdLst/>
              <a:ahLst/>
              <a:cxnLst/>
              <a:rect r="r" b="b" t="t" l="l"/>
              <a:pathLst>
                <a:path h="60219437" w="110471731">
                  <a:moveTo>
                    <a:pt x="110326946" y="60074659"/>
                  </a:moveTo>
                  <a:lnTo>
                    <a:pt x="110471731" y="60074659"/>
                  </a:lnTo>
                  <a:lnTo>
                    <a:pt x="110471731" y="60219437"/>
                  </a:lnTo>
                  <a:lnTo>
                    <a:pt x="110326946" y="60219437"/>
                  </a:lnTo>
                  <a:lnTo>
                    <a:pt x="110326946" y="6007465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0074659"/>
                  </a:lnTo>
                  <a:lnTo>
                    <a:pt x="0" y="60074659"/>
                  </a:lnTo>
                  <a:lnTo>
                    <a:pt x="0" y="144780"/>
                  </a:lnTo>
                  <a:close/>
                  <a:moveTo>
                    <a:pt x="0" y="60074659"/>
                  </a:moveTo>
                  <a:lnTo>
                    <a:pt x="144780" y="60074659"/>
                  </a:lnTo>
                  <a:lnTo>
                    <a:pt x="144780" y="60219437"/>
                  </a:lnTo>
                  <a:lnTo>
                    <a:pt x="0" y="60219437"/>
                  </a:lnTo>
                  <a:lnTo>
                    <a:pt x="0" y="60074659"/>
                  </a:lnTo>
                  <a:close/>
                  <a:moveTo>
                    <a:pt x="110326946" y="144780"/>
                  </a:moveTo>
                  <a:lnTo>
                    <a:pt x="110471731" y="144780"/>
                  </a:lnTo>
                  <a:lnTo>
                    <a:pt x="110471731" y="60074659"/>
                  </a:lnTo>
                  <a:lnTo>
                    <a:pt x="110326946" y="60074659"/>
                  </a:lnTo>
                  <a:lnTo>
                    <a:pt x="110326946" y="144780"/>
                  </a:lnTo>
                  <a:close/>
                  <a:moveTo>
                    <a:pt x="144780" y="60074659"/>
                  </a:moveTo>
                  <a:lnTo>
                    <a:pt x="110326946" y="60074659"/>
                  </a:lnTo>
                  <a:lnTo>
                    <a:pt x="110326946" y="60219437"/>
                  </a:lnTo>
                  <a:lnTo>
                    <a:pt x="144780" y="60219437"/>
                  </a:lnTo>
                  <a:lnTo>
                    <a:pt x="144780" y="60074659"/>
                  </a:lnTo>
                  <a:close/>
                  <a:moveTo>
                    <a:pt x="110326946" y="0"/>
                  </a:moveTo>
                  <a:lnTo>
                    <a:pt x="110471731" y="0"/>
                  </a:lnTo>
                  <a:lnTo>
                    <a:pt x="110471731" y="144780"/>
                  </a:lnTo>
                  <a:lnTo>
                    <a:pt x="110326946" y="144780"/>
                  </a:lnTo>
                  <a:lnTo>
                    <a:pt x="1103269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0326946" y="0"/>
                  </a:lnTo>
                  <a:lnTo>
                    <a:pt x="1103269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A7CDD1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410863" y="2353197"/>
            <a:ext cx="17466274" cy="7550839"/>
          </a:xfrm>
          <a:custGeom>
            <a:avLst/>
            <a:gdLst/>
            <a:ahLst/>
            <a:cxnLst/>
            <a:rect r="r" b="b" t="t" l="l"/>
            <a:pathLst>
              <a:path h="7550839" w="17466274">
                <a:moveTo>
                  <a:pt x="0" y="7550839"/>
                </a:moveTo>
                <a:lnTo>
                  <a:pt x="17466274" y="7550839"/>
                </a:lnTo>
                <a:lnTo>
                  <a:pt x="17466274" y="0"/>
                </a:lnTo>
                <a:lnTo>
                  <a:pt x="0" y="0"/>
                </a:lnTo>
                <a:lnTo>
                  <a:pt x="0" y="7550839"/>
                </a:lnTo>
                <a:close/>
              </a:path>
            </a:pathLst>
          </a:custGeom>
          <a:blipFill>
            <a:blip r:embed="rId2"/>
            <a:stretch>
              <a:fillRect l="-6026" t="-33485" r="-602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4252" y="1231244"/>
            <a:ext cx="16539541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Technologies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4373" y="4519653"/>
            <a:ext cx="6032064" cy="432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Programming &amp; Frameworks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Python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Streamlit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Summa NLP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WordCloud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Matplotlib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766816" y="4519653"/>
            <a:ext cx="8302347" cy="37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</a:t>
            </a:r>
            <a:r>
              <a:rPr lang="en-US" b="true" sz="35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gorithms &amp; Concepts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TextRank Algorithm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Rule-Based NLP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Tokenization &amp; Graph-Based Ranking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Extractive Summarization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C0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863" y="382964"/>
            <a:ext cx="17466274" cy="9521072"/>
            <a:chOff x="0" y="0"/>
            <a:chExt cx="110471726" cy="6021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10326949" cy="60074661"/>
            </a:xfrm>
            <a:custGeom>
              <a:avLst/>
              <a:gdLst/>
              <a:ahLst/>
              <a:cxnLst/>
              <a:rect r="r" b="b" t="t" l="l"/>
              <a:pathLst>
                <a:path h="60074661" w="110326949">
                  <a:moveTo>
                    <a:pt x="0" y="0"/>
                  </a:moveTo>
                  <a:lnTo>
                    <a:pt x="110326949" y="0"/>
                  </a:lnTo>
                  <a:lnTo>
                    <a:pt x="110326949" y="60074661"/>
                  </a:lnTo>
                  <a:lnTo>
                    <a:pt x="0" y="60074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A8C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71731" cy="60219437"/>
            </a:xfrm>
            <a:custGeom>
              <a:avLst/>
              <a:gdLst/>
              <a:ahLst/>
              <a:cxnLst/>
              <a:rect r="r" b="b" t="t" l="l"/>
              <a:pathLst>
                <a:path h="60219437" w="110471731">
                  <a:moveTo>
                    <a:pt x="110326946" y="60074659"/>
                  </a:moveTo>
                  <a:lnTo>
                    <a:pt x="110471731" y="60074659"/>
                  </a:lnTo>
                  <a:lnTo>
                    <a:pt x="110471731" y="60219437"/>
                  </a:lnTo>
                  <a:lnTo>
                    <a:pt x="110326946" y="60219437"/>
                  </a:lnTo>
                  <a:lnTo>
                    <a:pt x="110326946" y="6007465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0074659"/>
                  </a:lnTo>
                  <a:lnTo>
                    <a:pt x="0" y="60074659"/>
                  </a:lnTo>
                  <a:lnTo>
                    <a:pt x="0" y="144780"/>
                  </a:lnTo>
                  <a:close/>
                  <a:moveTo>
                    <a:pt x="0" y="60074659"/>
                  </a:moveTo>
                  <a:lnTo>
                    <a:pt x="144780" y="60074659"/>
                  </a:lnTo>
                  <a:lnTo>
                    <a:pt x="144780" y="60219437"/>
                  </a:lnTo>
                  <a:lnTo>
                    <a:pt x="0" y="60219437"/>
                  </a:lnTo>
                  <a:lnTo>
                    <a:pt x="0" y="60074659"/>
                  </a:lnTo>
                  <a:close/>
                  <a:moveTo>
                    <a:pt x="110326946" y="144780"/>
                  </a:moveTo>
                  <a:lnTo>
                    <a:pt x="110471731" y="144780"/>
                  </a:lnTo>
                  <a:lnTo>
                    <a:pt x="110471731" y="60074659"/>
                  </a:lnTo>
                  <a:lnTo>
                    <a:pt x="110326946" y="60074659"/>
                  </a:lnTo>
                  <a:lnTo>
                    <a:pt x="110326946" y="144780"/>
                  </a:lnTo>
                  <a:close/>
                  <a:moveTo>
                    <a:pt x="144780" y="60074659"/>
                  </a:moveTo>
                  <a:lnTo>
                    <a:pt x="110326946" y="60074659"/>
                  </a:lnTo>
                  <a:lnTo>
                    <a:pt x="110326946" y="60219437"/>
                  </a:lnTo>
                  <a:lnTo>
                    <a:pt x="144780" y="60219437"/>
                  </a:lnTo>
                  <a:lnTo>
                    <a:pt x="144780" y="60074659"/>
                  </a:lnTo>
                  <a:close/>
                  <a:moveTo>
                    <a:pt x="110326946" y="0"/>
                  </a:moveTo>
                  <a:lnTo>
                    <a:pt x="110471731" y="0"/>
                  </a:lnTo>
                  <a:lnTo>
                    <a:pt x="110471731" y="144780"/>
                  </a:lnTo>
                  <a:lnTo>
                    <a:pt x="110326946" y="144780"/>
                  </a:lnTo>
                  <a:lnTo>
                    <a:pt x="1103269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0326946" y="0"/>
                  </a:lnTo>
                  <a:lnTo>
                    <a:pt x="1103269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93A8CB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410863" y="2353197"/>
            <a:ext cx="17466274" cy="7550839"/>
          </a:xfrm>
          <a:custGeom>
            <a:avLst/>
            <a:gdLst/>
            <a:ahLst/>
            <a:cxnLst/>
            <a:rect r="r" b="b" t="t" l="l"/>
            <a:pathLst>
              <a:path h="7550839" w="17466274">
                <a:moveTo>
                  <a:pt x="0" y="7550839"/>
                </a:moveTo>
                <a:lnTo>
                  <a:pt x="17466274" y="7550839"/>
                </a:lnTo>
                <a:lnTo>
                  <a:pt x="17466274" y="0"/>
                </a:lnTo>
                <a:lnTo>
                  <a:pt x="0" y="0"/>
                </a:lnTo>
                <a:lnTo>
                  <a:pt x="0" y="7550839"/>
                </a:lnTo>
                <a:close/>
              </a:path>
            </a:pathLst>
          </a:custGeom>
          <a:blipFill>
            <a:blip r:embed="rId2"/>
            <a:stretch>
              <a:fillRect l="-6026" t="-33485" r="-602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0863" y="1416572"/>
            <a:ext cx="17466274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</a:t>
            </a:r>
            <a:r>
              <a:rPr lang="en-US" sz="5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esults &amp; Findings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4307" y="3407337"/>
            <a:ext cx="7390308" cy="6313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6"/>
              </a:lnSpc>
            </a:pPr>
            <a:r>
              <a:rPr lang="en-US" b="true" sz="358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Results</a:t>
            </a:r>
          </a:p>
          <a:p>
            <a:pPr algn="l" marL="773565" indent="-386782" lvl="1">
              <a:lnSpc>
                <a:spcPts val="5016"/>
              </a:lnSpc>
              <a:buFont typeface="Arial"/>
              <a:buChar char="•"/>
            </a:pPr>
            <a:r>
              <a:rPr lang="en-US" sz="358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Extracts accurate and meaningful keywords</a:t>
            </a:r>
          </a:p>
          <a:p>
            <a:pPr algn="l" marL="773565" indent="-386782" lvl="1">
              <a:lnSpc>
                <a:spcPts val="5016"/>
              </a:lnSpc>
              <a:buFont typeface="Arial"/>
              <a:buChar char="•"/>
            </a:pPr>
            <a:r>
              <a:rPr lang="en-US" sz="358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Generates concise summaries</a:t>
            </a:r>
          </a:p>
          <a:p>
            <a:pPr algn="l" marL="773565" indent="-386782" lvl="1">
              <a:lnSpc>
                <a:spcPts val="5016"/>
              </a:lnSpc>
              <a:buFont typeface="Arial"/>
              <a:buChar char="•"/>
            </a:pPr>
            <a:r>
              <a:rPr lang="en-US" sz="358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Produces visually appealing word clouds</a:t>
            </a:r>
          </a:p>
          <a:p>
            <a:pPr algn="l" marL="773565" indent="-386782" lvl="1">
              <a:lnSpc>
                <a:spcPts val="5016"/>
              </a:lnSpc>
              <a:buFont typeface="Arial"/>
              <a:buChar char="•"/>
            </a:pPr>
            <a:r>
              <a:rPr lang="en-US" sz="358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Supports multiple types of documents</a:t>
            </a:r>
          </a:p>
          <a:p>
            <a:pPr algn="l" marL="773565" indent="-386782" lvl="1">
              <a:lnSpc>
                <a:spcPts val="5016"/>
              </a:lnSpc>
              <a:buFont typeface="Arial"/>
              <a:buChar char="•"/>
            </a:pPr>
            <a:r>
              <a:rPr lang="en-US" sz="358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User-friendly and fast web-based tool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18742" y="4118546"/>
            <a:ext cx="8558395" cy="513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0"/>
              </a:lnSpc>
              <a:spcBef>
                <a:spcPct val="0"/>
              </a:spcBef>
            </a:pPr>
            <a:r>
              <a:rPr lang="en-US" b="true" sz="365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Finding</a:t>
            </a:r>
            <a:r>
              <a:rPr lang="en-US" b="true" sz="365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</a:p>
          <a:p>
            <a:pPr algn="l" marL="788116" indent="-394058" lvl="1">
              <a:lnSpc>
                <a:spcPts val="5110"/>
              </a:lnSpc>
              <a:spcBef>
                <a:spcPct val="0"/>
              </a:spcBef>
              <a:buFont typeface="Arial"/>
              <a:buChar char="•"/>
            </a:pPr>
            <a:r>
              <a:rPr lang="en-US" sz="36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TextRank performs well for unsupervised keyword extraction</a:t>
            </a:r>
          </a:p>
          <a:p>
            <a:pPr algn="l" marL="788116" indent="-394058" lvl="1">
              <a:lnSpc>
                <a:spcPts val="5110"/>
              </a:lnSpc>
              <a:spcBef>
                <a:spcPct val="0"/>
              </a:spcBef>
              <a:buFont typeface="Arial"/>
              <a:buChar char="•"/>
            </a:pPr>
            <a:r>
              <a:rPr lang="en-US" sz="36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Hybrid rule-based + ML approach improves reliability</a:t>
            </a:r>
          </a:p>
          <a:p>
            <a:pPr algn="l" marL="788116" indent="-394058" lvl="1">
              <a:lnSpc>
                <a:spcPts val="5110"/>
              </a:lnSpc>
              <a:spcBef>
                <a:spcPct val="0"/>
              </a:spcBef>
              <a:buFont typeface="Arial"/>
              <a:buChar char="•"/>
            </a:pPr>
            <a:r>
              <a:rPr lang="en-US" sz="36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Ideal for journalism, research, reporting, and analysis</a:t>
            </a:r>
          </a:p>
          <a:p>
            <a:pPr algn="l">
              <a:lnSpc>
                <a:spcPts val="51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863" y="382964"/>
            <a:ext cx="17466274" cy="9521072"/>
            <a:chOff x="0" y="0"/>
            <a:chExt cx="110471726" cy="6021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10326949" cy="60074661"/>
            </a:xfrm>
            <a:custGeom>
              <a:avLst/>
              <a:gdLst/>
              <a:ahLst/>
              <a:cxnLst/>
              <a:rect r="r" b="b" t="t" l="l"/>
              <a:pathLst>
                <a:path h="60074661" w="110326949">
                  <a:moveTo>
                    <a:pt x="0" y="0"/>
                  </a:moveTo>
                  <a:lnTo>
                    <a:pt x="110326949" y="0"/>
                  </a:lnTo>
                  <a:lnTo>
                    <a:pt x="110326949" y="60074661"/>
                  </a:lnTo>
                  <a:lnTo>
                    <a:pt x="0" y="60074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C0B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71731" cy="60219437"/>
            </a:xfrm>
            <a:custGeom>
              <a:avLst/>
              <a:gdLst/>
              <a:ahLst/>
              <a:cxnLst/>
              <a:rect r="r" b="b" t="t" l="l"/>
              <a:pathLst>
                <a:path h="60219437" w="110471731">
                  <a:moveTo>
                    <a:pt x="110326946" y="60074659"/>
                  </a:moveTo>
                  <a:lnTo>
                    <a:pt x="110471731" y="60074659"/>
                  </a:lnTo>
                  <a:lnTo>
                    <a:pt x="110471731" y="60219437"/>
                  </a:lnTo>
                  <a:lnTo>
                    <a:pt x="110326946" y="60219437"/>
                  </a:lnTo>
                  <a:lnTo>
                    <a:pt x="110326946" y="6007465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0074659"/>
                  </a:lnTo>
                  <a:lnTo>
                    <a:pt x="0" y="60074659"/>
                  </a:lnTo>
                  <a:lnTo>
                    <a:pt x="0" y="144780"/>
                  </a:lnTo>
                  <a:close/>
                  <a:moveTo>
                    <a:pt x="0" y="60074659"/>
                  </a:moveTo>
                  <a:lnTo>
                    <a:pt x="144780" y="60074659"/>
                  </a:lnTo>
                  <a:lnTo>
                    <a:pt x="144780" y="60219437"/>
                  </a:lnTo>
                  <a:lnTo>
                    <a:pt x="0" y="60219437"/>
                  </a:lnTo>
                  <a:lnTo>
                    <a:pt x="0" y="60074659"/>
                  </a:lnTo>
                  <a:close/>
                  <a:moveTo>
                    <a:pt x="110326946" y="144780"/>
                  </a:moveTo>
                  <a:lnTo>
                    <a:pt x="110471731" y="144780"/>
                  </a:lnTo>
                  <a:lnTo>
                    <a:pt x="110471731" y="60074659"/>
                  </a:lnTo>
                  <a:lnTo>
                    <a:pt x="110326946" y="60074659"/>
                  </a:lnTo>
                  <a:lnTo>
                    <a:pt x="110326946" y="144780"/>
                  </a:lnTo>
                  <a:close/>
                  <a:moveTo>
                    <a:pt x="144780" y="60074659"/>
                  </a:moveTo>
                  <a:lnTo>
                    <a:pt x="110326946" y="60074659"/>
                  </a:lnTo>
                  <a:lnTo>
                    <a:pt x="110326946" y="60219437"/>
                  </a:lnTo>
                  <a:lnTo>
                    <a:pt x="144780" y="60219437"/>
                  </a:lnTo>
                  <a:lnTo>
                    <a:pt x="144780" y="60074659"/>
                  </a:lnTo>
                  <a:close/>
                  <a:moveTo>
                    <a:pt x="110326946" y="0"/>
                  </a:moveTo>
                  <a:lnTo>
                    <a:pt x="110471731" y="0"/>
                  </a:lnTo>
                  <a:lnTo>
                    <a:pt x="110471731" y="144780"/>
                  </a:lnTo>
                  <a:lnTo>
                    <a:pt x="110326946" y="144780"/>
                  </a:lnTo>
                  <a:lnTo>
                    <a:pt x="1103269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0326946" y="0"/>
                  </a:lnTo>
                  <a:lnTo>
                    <a:pt x="1103269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AC0B4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410863" y="2200218"/>
            <a:ext cx="17466274" cy="7550839"/>
          </a:xfrm>
          <a:custGeom>
            <a:avLst/>
            <a:gdLst/>
            <a:ahLst/>
            <a:cxnLst/>
            <a:rect r="r" b="b" t="t" l="l"/>
            <a:pathLst>
              <a:path h="7550839" w="17466274">
                <a:moveTo>
                  <a:pt x="0" y="7550839"/>
                </a:moveTo>
                <a:lnTo>
                  <a:pt x="17466274" y="7550839"/>
                </a:lnTo>
                <a:lnTo>
                  <a:pt x="17466274" y="0"/>
                </a:lnTo>
                <a:lnTo>
                  <a:pt x="0" y="0"/>
                </a:lnTo>
                <a:lnTo>
                  <a:pt x="0" y="7550839"/>
                </a:lnTo>
                <a:close/>
              </a:path>
            </a:pathLst>
          </a:custGeom>
          <a:blipFill>
            <a:blip r:embed="rId2"/>
            <a:stretch>
              <a:fillRect l="-6026" t="-33485" r="-602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263593"/>
            <a:ext cx="162306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Co</a:t>
            </a:r>
            <a:r>
              <a:rPr lang="en-US" sz="5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nclusion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7313" y="5057775"/>
            <a:ext cx="16613374" cy="2929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2"/>
              </a:lnSpc>
              <a:spcBef>
                <a:spcPct val="0"/>
              </a:spcBef>
            </a:pPr>
          </a:p>
          <a:p>
            <a:pPr algn="ctr">
              <a:lnSpc>
                <a:spcPts val="5865"/>
              </a:lnSpc>
              <a:spcBef>
                <a:spcPct val="0"/>
              </a:spcBef>
            </a:pPr>
            <a:r>
              <a:rPr lang="en-US" sz="418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Keyword Extraction System successfully automates text analysis using NLP and ML techniques. It provides quick insights, improves productivity, and is easy to deploy for real-world use.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7C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863" y="382964"/>
            <a:ext cx="17466274" cy="9521072"/>
            <a:chOff x="0" y="0"/>
            <a:chExt cx="110471726" cy="6021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10326949" cy="60074661"/>
            </a:xfrm>
            <a:custGeom>
              <a:avLst/>
              <a:gdLst/>
              <a:ahLst/>
              <a:cxnLst/>
              <a:rect r="r" b="b" t="t" l="l"/>
              <a:pathLst>
                <a:path h="60074661" w="110326949">
                  <a:moveTo>
                    <a:pt x="0" y="0"/>
                  </a:moveTo>
                  <a:lnTo>
                    <a:pt x="110326949" y="0"/>
                  </a:lnTo>
                  <a:lnTo>
                    <a:pt x="110326949" y="60074661"/>
                  </a:lnTo>
                  <a:lnTo>
                    <a:pt x="0" y="60074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8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71731" cy="60219437"/>
            </a:xfrm>
            <a:custGeom>
              <a:avLst/>
              <a:gdLst/>
              <a:ahLst/>
              <a:cxnLst/>
              <a:rect r="r" b="b" t="t" l="l"/>
              <a:pathLst>
                <a:path h="60219437" w="110471731">
                  <a:moveTo>
                    <a:pt x="110326946" y="60074659"/>
                  </a:moveTo>
                  <a:lnTo>
                    <a:pt x="110471731" y="60074659"/>
                  </a:lnTo>
                  <a:lnTo>
                    <a:pt x="110471731" y="60219437"/>
                  </a:lnTo>
                  <a:lnTo>
                    <a:pt x="110326946" y="60219437"/>
                  </a:lnTo>
                  <a:lnTo>
                    <a:pt x="110326946" y="6007465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0074659"/>
                  </a:lnTo>
                  <a:lnTo>
                    <a:pt x="0" y="60074659"/>
                  </a:lnTo>
                  <a:lnTo>
                    <a:pt x="0" y="144780"/>
                  </a:lnTo>
                  <a:close/>
                  <a:moveTo>
                    <a:pt x="0" y="60074659"/>
                  </a:moveTo>
                  <a:lnTo>
                    <a:pt x="144780" y="60074659"/>
                  </a:lnTo>
                  <a:lnTo>
                    <a:pt x="144780" y="60219437"/>
                  </a:lnTo>
                  <a:lnTo>
                    <a:pt x="0" y="60219437"/>
                  </a:lnTo>
                  <a:lnTo>
                    <a:pt x="0" y="60074659"/>
                  </a:lnTo>
                  <a:close/>
                  <a:moveTo>
                    <a:pt x="110326946" y="144780"/>
                  </a:moveTo>
                  <a:lnTo>
                    <a:pt x="110471731" y="144780"/>
                  </a:lnTo>
                  <a:lnTo>
                    <a:pt x="110471731" y="60074659"/>
                  </a:lnTo>
                  <a:lnTo>
                    <a:pt x="110326946" y="60074659"/>
                  </a:lnTo>
                  <a:lnTo>
                    <a:pt x="110326946" y="144780"/>
                  </a:lnTo>
                  <a:close/>
                  <a:moveTo>
                    <a:pt x="144780" y="60074659"/>
                  </a:moveTo>
                  <a:lnTo>
                    <a:pt x="110326946" y="60074659"/>
                  </a:lnTo>
                  <a:lnTo>
                    <a:pt x="110326946" y="60219437"/>
                  </a:lnTo>
                  <a:lnTo>
                    <a:pt x="144780" y="60219437"/>
                  </a:lnTo>
                  <a:lnTo>
                    <a:pt x="144780" y="60074659"/>
                  </a:lnTo>
                  <a:close/>
                  <a:moveTo>
                    <a:pt x="110326946" y="0"/>
                  </a:moveTo>
                  <a:lnTo>
                    <a:pt x="110471731" y="0"/>
                  </a:lnTo>
                  <a:lnTo>
                    <a:pt x="110471731" y="144780"/>
                  </a:lnTo>
                  <a:lnTo>
                    <a:pt x="110326946" y="144780"/>
                  </a:lnTo>
                  <a:lnTo>
                    <a:pt x="1103269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0326946" y="0"/>
                  </a:lnTo>
                  <a:lnTo>
                    <a:pt x="1103269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A7CDD1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410863" y="2353197"/>
            <a:ext cx="17466274" cy="7550839"/>
          </a:xfrm>
          <a:custGeom>
            <a:avLst/>
            <a:gdLst/>
            <a:ahLst/>
            <a:cxnLst/>
            <a:rect r="r" b="b" t="t" l="l"/>
            <a:pathLst>
              <a:path h="7550839" w="17466274">
                <a:moveTo>
                  <a:pt x="0" y="7550839"/>
                </a:moveTo>
                <a:lnTo>
                  <a:pt x="17466274" y="7550839"/>
                </a:lnTo>
                <a:lnTo>
                  <a:pt x="17466274" y="0"/>
                </a:lnTo>
                <a:lnTo>
                  <a:pt x="0" y="0"/>
                </a:lnTo>
                <a:lnTo>
                  <a:pt x="0" y="7550839"/>
                </a:lnTo>
                <a:close/>
              </a:path>
            </a:pathLst>
          </a:custGeom>
          <a:blipFill>
            <a:blip r:embed="rId2"/>
            <a:stretch>
              <a:fillRect l="-6026" t="-33485" r="-602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678" y="1343547"/>
            <a:ext cx="162306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08364" y="3900837"/>
            <a:ext cx="11651910" cy="535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0121" indent="-470060" lvl="1">
              <a:lnSpc>
                <a:spcPts val="6096"/>
              </a:lnSpc>
              <a:buFont typeface="Arial"/>
              <a:buChar char="•"/>
            </a:pPr>
            <a:r>
              <a:rPr lang="en-US" sz="435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PDF &amp; DOCX file support</a:t>
            </a:r>
          </a:p>
          <a:p>
            <a:pPr algn="l" marL="940121" indent="-470060" lvl="1">
              <a:lnSpc>
                <a:spcPts val="6096"/>
              </a:lnSpc>
              <a:buFont typeface="Arial"/>
              <a:buChar char="•"/>
            </a:pPr>
            <a:r>
              <a:rPr lang="en-US" sz="435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Multi-language keyword extraction</a:t>
            </a:r>
          </a:p>
          <a:p>
            <a:pPr algn="l" marL="940121" indent="-470060" lvl="1">
              <a:lnSpc>
                <a:spcPts val="6096"/>
              </a:lnSpc>
              <a:buFont typeface="Arial"/>
              <a:buChar char="•"/>
            </a:pPr>
            <a:r>
              <a:rPr lang="en-US" sz="435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API version using FastAPI</a:t>
            </a:r>
          </a:p>
          <a:p>
            <a:pPr algn="l" marL="940121" indent="-470060" lvl="1">
              <a:lnSpc>
                <a:spcPts val="6096"/>
              </a:lnSpc>
              <a:buFont typeface="Arial"/>
              <a:buChar char="•"/>
            </a:pPr>
            <a:r>
              <a:rPr lang="en-US" sz="435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Integration with BERT/Transformer models</a:t>
            </a:r>
          </a:p>
          <a:p>
            <a:pPr algn="l" marL="940121" indent="-470060" lvl="1">
              <a:lnSpc>
                <a:spcPts val="6096"/>
              </a:lnSpc>
              <a:buFont typeface="Arial"/>
              <a:buChar char="•"/>
            </a:pPr>
            <a:r>
              <a:rPr lang="en-US" sz="435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Named Entity Recognition (NER)</a:t>
            </a:r>
          </a:p>
          <a:p>
            <a:pPr algn="l" marL="940121" indent="-470060" lvl="1">
              <a:lnSpc>
                <a:spcPts val="6096"/>
              </a:lnSpc>
              <a:buFont typeface="Arial"/>
              <a:buChar char="•"/>
            </a:pPr>
            <a:r>
              <a:rPr lang="en-US" sz="435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Topic Modeling (LDA, BERTopic)</a:t>
            </a:r>
          </a:p>
          <a:p>
            <a:pPr algn="l" marL="940121" indent="-470060" lvl="1">
              <a:lnSpc>
                <a:spcPts val="6096"/>
              </a:lnSpc>
              <a:buFont typeface="Arial"/>
              <a:buChar char="•"/>
            </a:pPr>
            <a:r>
              <a:rPr lang="en-US" sz="435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Mobile App Version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863" y="382964"/>
            <a:ext cx="17466274" cy="9521072"/>
            <a:chOff x="0" y="0"/>
            <a:chExt cx="110471726" cy="6021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10326949" cy="60074661"/>
            </a:xfrm>
            <a:custGeom>
              <a:avLst/>
              <a:gdLst/>
              <a:ahLst/>
              <a:cxnLst/>
              <a:rect r="r" b="b" t="t" l="l"/>
              <a:pathLst>
                <a:path h="60074661" w="110326949">
                  <a:moveTo>
                    <a:pt x="0" y="0"/>
                  </a:moveTo>
                  <a:lnTo>
                    <a:pt x="110326949" y="0"/>
                  </a:lnTo>
                  <a:lnTo>
                    <a:pt x="110326949" y="60074661"/>
                  </a:lnTo>
                  <a:lnTo>
                    <a:pt x="0" y="60074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9EA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71731" cy="60219437"/>
            </a:xfrm>
            <a:custGeom>
              <a:avLst/>
              <a:gdLst/>
              <a:ahLst/>
              <a:cxnLst/>
              <a:rect r="r" b="b" t="t" l="l"/>
              <a:pathLst>
                <a:path h="60219437" w="110471731">
                  <a:moveTo>
                    <a:pt x="110326946" y="60074659"/>
                  </a:moveTo>
                  <a:lnTo>
                    <a:pt x="110471731" y="60074659"/>
                  </a:lnTo>
                  <a:lnTo>
                    <a:pt x="110471731" y="60219437"/>
                  </a:lnTo>
                  <a:lnTo>
                    <a:pt x="110326946" y="60219437"/>
                  </a:lnTo>
                  <a:lnTo>
                    <a:pt x="110326946" y="6007465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0074659"/>
                  </a:lnTo>
                  <a:lnTo>
                    <a:pt x="0" y="60074659"/>
                  </a:lnTo>
                  <a:lnTo>
                    <a:pt x="0" y="144780"/>
                  </a:lnTo>
                  <a:close/>
                  <a:moveTo>
                    <a:pt x="0" y="60074659"/>
                  </a:moveTo>
                  <a:lnTo>
                    <a:pt x="144780" y="60074659"/>
                  </a:lnTo>
                  <a:lnTo>
                    <a:pt x="144780" y="60219437"/>
                  </a:lnTo>
                  <a:lnTo>
                    <a:pt x="0" y="60219437"/>
                  </a:lnTo>
                  <a:lnTo>
                    <a:pt x="0" y="60074659"/>
                  </a:lnTo>
                  <a:close/>
                  <a:moveTo>
                    <a:pt x="110326946" y="144780"/>
                  </a:moveTo>
                  <a:lnTo>
                    <a:pt x="110471731" y="144780"/>
                  </a:lnTo>
                  <a:lnTo>
                    <a:pt x="110471731" y="60074659"/>
                  </a:lnTo>
                  <a:lnTo>
                    <a:pt x="110326946" y="60074659"/>
                  </a:lnTo>
                  <a:lnTo>
                    <a:pt x="110326946" y="144780"/>
                  </a:lnTo>
                  <a:close/>
                  <a:moveTo>
                    <a:pt x="144780" y="60074659"/>
                  </a:moveTo>
                  <a:lnTo>
                    <a:pt x="110326946" y="60074659"/>
                  </a:lnTo>
                  <a:lnTo>
                    <a:pt x="110326946" y="60219437"/>
                  </a:lnTo>
                  <a:lnTo>
                    <a:pt x="144780" y="60219437"/>
                  </a:lnTo>
                  <a:lnTo>
                    <a:pt x="144780" y="60074659"/>
                  </a:lnTo>
                  <a:close/>
                  <a:moveTo>
                    <a:pt x="110326946" y="0"/>
                  </a:moveTo>
                  <a:lnTo>
                    <a:pt x="110471731" y="0"/>
                  </a:lnTo>
                  <a:lnTo>
                    <a:pt x="110471731" y="144780"/>
                  </a:lnTo>
                  <a:lnTo>
                    <a:pt x="110326946" y="144780"/>
                  </a:lnTo>
                  <a:lnTo>
                    <a:pt x="11032694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0326946" y="0"/>
                  </a:lnTo>
                  <a:lnTo>
                    <a:pt x="11032694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A9EAD"/>
            </a:solidFill>
          </p:spPr>
        </p:sp>
      </p:grpSp>
      <p:sp>
        <p:nvSpPr>
          <p:cNvPr name="Freeform 5" id="5"/>
          <p:cNvSpPr/>
          <p:nvPr/>
        </p:nvSpPr>
        <p:spPr>
          <a:xfrm flipH="true" flipV="true" rot="199868">
            <a:off x="218695" y="527264"/>
            <a:ext cx="17850611" cy="8125088"/>
          </a:xfrm>
          <a:custGeom>
            <a:avLst/>
            <a:gdLst/>
            <a:ahLst/>
            <a:cxnLst/>
            <a:rect r="r" b="b" t="t" l="l"/>
            <a:pathLst>
              <a:path h="8125088" w="17850611">
                <a:moveTo>
                  <a:pt x="17850610" y="7110182"/>
                </a:moveTo>
                <a:lnTo>
                  <a:pt x="413847" y="8125088"/>
                </a:lnTo>
                <a:lnTo>
                  <a:pt x="0" y="1014906"/>
                </a:lnTo>
                <a:lnTo>
                  <a:pt x="17436763" y="0"/>
                </a:lnTo>
                <a:lnTo>
                  <a:pt x="17850610" y="7110182"/>
                </a:lnTo>
                <a:close/>
              </a:path>
            </a:pathLst>
          </a:custGeom>
          <a:blipFill>
            <a:blip r:embed="rId2"/>
            <a:stretch>
              <a:fillRect l="-8668" t="-235" r="-1390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0863" y="2497483"/>
            <a:ext cx="17259300" cy="3765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9"/>
              </a:lnSpc>
            </a:pPr>
            <a:r>
              <a:rPr lang="en-US" sz="21999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47967" y="6473865"/>
            <a:ext cx="3585091" cy="781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A995CF"/>
                </a:solidFill>
                <a:latin typeface="Fredoka"/>
                <a:ea typeface="Fredoka"/>
                <a:cs typeface="Fredoka"/>
                <a:sym typeface="Fredoka"/>
              </a:rPr>
              <a:t>QUESTIONS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DAG6dQTjAGU</dc:identifier>
  <dcterms:modified xsi:type="dcterms:W3CDTF">2011-08-01T06:04:30Z</dcterms:modified>
  <cp:revision>1</cp:revision>
  <dc:title>GENAIPPT</dc:title>
</cp:coreProperties>
</file>